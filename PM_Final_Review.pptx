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1/8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24128"/>
            <a:ext cx="10607040" cy="6217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400" b="1">
                <a:solidFill>
                  <a:srgbClr val="38BDF8"/>
                </a:solidFill>
                <a:latin typeface="Aptos"/>
              </a:defRPr>
            </a:pPr>
            <a:r>
              <a:t>APU-GUARDIAN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783080"/>
            <a:ext cx="10607040" cy="6583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3000" b="1">
                <a:solidFill>
                  <a:srgbClr val="F1F5F9"/>
                </a:solidFill>
                <a:latin typeface="Aptos"/>
              </a:defRPr>
            </a:pPr>
            <a:r>
              <a:t>AI-Driven Predictive Maintenance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9808" y="2606040"/>
            <a:ext cx="10424160" cy="4389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900" b="0">
                <a:solidFill>
                  <a:srgbClr val="A6B5CA"/>
                </a:solidFill>
                <a:latin typeface="Aptos"/>
              </a:defRPr>
            </a:pPr>
            <a:r>
              <a:t>End-to-end offline prototype and held-out evaluation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749039"/>
            <a:ext cx="5212080" cy="1325880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3886200"/>
            <a:ext cx="48828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4270248"/>
            <a:ext cx="4882896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MetroPT-3 air production unit | 1,516,948 raw rows | 15 sensor signals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3749039"/>
            <a:ext cx="5212080" cy="1325880"/>
          </a:xfrm>
          <a:prstGeom prst="roundRect">
            <a:avLst/>
          </a:prstGeom>
          <a:solidFill>
            <a:srgbClr val="182438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82512" y="3886200"/>
            <a:ext cx="488289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SCOPE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82512" y="4270248"/>
            <a:ext cx="4882896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Historical anomaly detection, model comparison, dashboard scoring, and maintenance-ticket demonstration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5559552"/>
            <a:ext cx="1069848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t>Course-Based Project | Batch 11 | B. Rishika Reddy | E. Tejaswi | J. Vedha Sree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971032"/>
            <a:ext cx="1078992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A6B5CA"/>
                </a:solidFill>
                <a:latin typeface="Aptos"/>
              </a:defRPr>
            </a:pPr>
            <a:r>
              <a:t>SDG 9: Industry, Innovation and Infrastructure   |   SDG 12: Responsible Consumption and Production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System workflow and project boundary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4663440" cy="3749039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1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- Load MetroPT-3 sensor history and annotate documented Air Leak periods.</a:t>
            </a:r>
          </a:p>
          <a:p>
            <a:pPr>
              <a:spcAft>
                <a:spcPts val="11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- Scale 15 channels, create sliding time windows, and train four reconstruction models.</a:t>
            </a:r>
          </a:p>
          <a:p>
            <a:pPr>
              <a:spcAft>
                <a:spcPts val="11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- Calibrate an anomaly threshold on a separate normal period; score a later chronological test period.</a:t>
            </a:r>
          </a:p>
          <a:p>
            <a:pPr>
              <a:spcAft>
                <a:spcPts val="1100"/>
              </a:spcAft>
              <a:defRPr sz="1600">
                <a:solidFill>
                  <a:srgbClr val="F1F5F9"/>
                </a:solidFill>
                <a:latin typeface="Aptos"/>
              </a:defRPr>
            </a:pPr>
            <a:r>
              <a:t>- Display historical scores, timestep attention, a model-backed what-if perturbation, and a maintenance recommendation.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5166360"/>
            <a:ext cx="4572000" cy="786384"/>
          </a:xfrm>
          <a:prstGeom prst="roundRect">
            <a:avLst/>
          </a:prstGeom>
          <a:solidFill>
            <a:srgbClr val="182438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96112" y="5303520"/>
            <a:ext cx="4242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IMPORTANT SCOPE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6112" y="5687568"/>
            <a:ext cx="4242816" cy="12801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Offline dataset demonstration only; no live sensor, IIoT, or control-system connection.</a:t>
            </a:r>
          </a:p>
        </p:txBody>
      </p:sp>
      <p:pic>
        <p:nvPicPr>
          <p:cNvPr id="9" name="Picture 8" descr="fig1_system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2154662"/>
            <a:ext cx="5943600" cy="300587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Dataset preparation and chronological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3/8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170432"/>
            <a:ext cx="342900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07592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SOURCE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691640"/>
            <a:ext cx="3099816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1,516,948 raw observations</a:t>
            </a:r>
            <a:br/>
            <a:r>
              <a:t>15 sensor features | Feb-Sep 2020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170432"/>
            <a:ext cx="342900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1307592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WINDOWS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1691640"/>
            <a:ext cx="3099816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Every 10th row; 30-step window</a:t>
            </a:r>
            <a:br/>
            <a:r>
              <a:t>~50 min window, ~8.3 min stride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46720" y="1170432"/>
            <a:ext cx="3429000" cy="1234440"/>
          </a:xfrm>
          <a:prstGeom prst="roundRect">
            <a:avLst/>
          </a:prstGeom>
          <a:solidFill>
            <a:srgbClr val="182438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2" y="1307592"/>
            <a:ext cx="309981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Aptos"/>
              </a:defRPr>
            </a:pPr>
            <a:r>
              <a:t>TEST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11312" y="1691640"/>
            <a:ext cx="3099816" cy="5760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13,197 windows</a:t>
            </a:r>
            <a:br/>
            <a:r>
              <a:t>390 labeled anomalous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633472"/>
            <a:ext cx="1088136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Train: before 2020-05-01 (12,696 normal windows)     |     Calibration: May (4,198 normal windows)     |     Test: from 2020-06-01</a:t>
            </a:r>
          </a:p>
        </p:txBody>
      </p:sp>
      <p:pic>
        <p:nvPicPr>
          <p:cNvPr id="15" name="Picture 14" descr="fig3_sensor_telemetry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9232" y="3063240"/>
            <a:ext cx="6254496" cy="31272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Models and anomaly decision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4/8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1170432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Dense Autoencoder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4791455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Per-timestep reconstruction baseline.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120640" cy="1170432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37160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Stacked LSTM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755648"/>
            <a:ext cx="4791455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Temporal reconstruction baseline.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651760"/>
            <a:ext cx="5120640" cy="1170432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78892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LSTM Autoencoder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172968"/>
            <a:ext cx="4791455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Encoder-decoder sequence reconstruction.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651760"/>
            <a:ext cx="5120640" cy="1170432"/>
          </a:xfrm>
          <a:prstGeom prst="roundRect">
            <a:avLst/>
          </a:prstGeom>
          <a:solidFill>
            <a:srgbClr val="182438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278892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Attention LSTM-AE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172968"/>
            <a:ext cx="4791455" cy="512064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300" b="0">
                <a:solidFill>
                  <a:srgbClr val="F1F5F9"/>
                </a:solidFill>
                <a:latin typeface="Aptos"/>
              </a:defRPr>
            </a:pPr>
            <a:r>
              <a:t>Proposed encoder attention; weights describe timestep weighting, not causal sensor explanations.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343400"/>
            <a:ext cx="10607040" cy="914400"/>
          </a:xfrm>
          <a:prstGeom prst="roundRect">
            <a:avLst/>
          </a:prstGeom>
          <a:solidFill>
            <a:srgbClr val="182438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4480560"/>
            <a:ext cx="102778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Aptos"/>
              </a:defRPr>
            </a:pPr>
            <a:r>
              <a:t>DECISION RULE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" y="4864608"/>
            <a:ext cx="10277856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0">
                <a:solidFill>
                  <a:srgbClr val="F1F5F9"/>
                </a:solidFill>
                <a:latin typeface="Aptos"/>
              </a:defRPr>
            </a:pPr>
            <a:r>
              <a:t>Per-window reconstruction MSE &gt; normal-calibration 99.5th percentile. Proposed-model threshold: 9.286926.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532120"/>
            <a:ext cx="1060704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A6B5CA"/>
                </a:solidFill>
                <a:latin typeface="Aptos"/>
              </a:defRPr>
            </a:pPr>
            <a:r>
              <a:t>The same fitted scaler and proposed checkpoint are loaded by the dashboard; no paper metrics or mock attention weights are substituted.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Held-out model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5/8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207008"/>
          <a:ext cx="608076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6152"/>
                <a:gridCol w="1216152"/>
                <a:gridCol w="1216152"/>
                <a:gridCol w="1216152"/>
                <a:gridCol w="1216152"/>
              </a:tblGrid>
              <a:tr h="493776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Accuracy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Precision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Recall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F1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Autoencoder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0.9673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0.2941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0.0769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0.1220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LSTM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0.9645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0.1938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0.0641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0.0963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LSTM + Autoencoder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0.9673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0.3084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0.0846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0.1328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Proposed Attention-LSTM-AE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0.9673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0.2981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0.0795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0.1255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3886200"/>
          <a:ext cx="6080760" cy="2148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0190"/>
                <a:gridCol w="1520190"/>
                <a:gridCol w="1520190"/>
                <a:gridCol w="1520190"/>
              </a:tblGrid>
              <a:tr h="429768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Model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MAE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MSE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RMSE</a:t>
                      </a:r>
                    </a:p>
                  </a:txBody>
                  <a:tcPr marL="54864" marR="45720" marT="27432" marB="27432" anchor="ctr">
                    <a:solidFill>
                      <a:srgbClr val="233E57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Autoencoder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0.1430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0.0931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0.3052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LSTM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0.0759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0.0352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0.1877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LSTM + Autoencoder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0.5862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1.2036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1.0971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Proposed Attention-LSTM-AE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0.4765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0.9732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F1F5F9"/>
                          </a:solidFill>
                          <a:latin typeface="Aptos"/>
                        </a:defRPr>
                      </a:pPr>
                      <a:r>
                        <a:t>0.9865</a:t>
                      </a:r>
                    </a:p>
                  </a:txBody>
                  <a:tcPr marL="54864" marR="45720" marT="27432" marB="27432" anchor="ctr">
                    <a:solidFill>
                      <a:srgbClr val="182438"/>
                    </a:solidFill>
                  </a:tcPr>
                </a:tc>
              </a:tr>
            </a:tbl>
          </a:graphicData>
        </a:graphic>
      </p:graphicFrame>
      <p:pic>
        <p:nvPicPr>
          <p:cNvPr id="7" name="Picture 6" descr="fig6_classification_metrics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03720" y="2308860"/>
            <a:ext cx="4663440" cy="233172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040880" y="5779008"/>
            <a:ext cx="448056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200" b="0">
                <a:solidFill>
                  <a:srgbClr val="A6B5CA"/>
                </a:solidFill>
                <a:latin typeface="Aptos"/>
              </a:defRPr>
            </a:pPr>
            <a:r>
              <a:t>All values are from this local run. Accuracy is not sufficient for this imbalanced anomaly task; inspect precision, recall, and event-level results.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What the held-out results actually show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6/8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3291840" cy="1325880"/>
          </a:xfrm>
          <a:prstGeom prst="roundRect">
            <a:avLst/>
          </a:prstGeom>
          <a:solidFill>
            <a:srgbClr val="182438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29626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Aptos"/>
              </a:defRPr>
            </a:pPr>
            <a:r>
              <a:t>RECALL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2962656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8.0% | 31 of 390 anomalous windows detected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34840" y="1234440"/>
            <a:ext cx="3291840" cy="1325880"/>
          </a:xfrm>
          <a:prstGeom prst="roundRect">
            <a:avLst/>
          </a:prstGeom>
          <a:solidFill>
            <a:srgbClr val="182438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9431" y="1371600"/>
            <a:ext cx="29626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FALSE ALARMS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9431" y="1755648"/>
            <a:ext cx="2962656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73 false positives | precision 29.8%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234440"/>
            <a:ext cx="3291840" cy="1325880"/>
          </a:xfrm>
          <a:prstGeom prst="roundRect">
            <a:avLst/>
          </a:prstGeom>
          <a:solidFill>
            <a:srgbClr val="182438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02752" y="1371600"/>
            <a:ext cx="2962656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EVENT WARNING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02752" y="1755648"/>
            <a:ext cx="2962656" cy="66751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F3 and F4 both missed within the 12-hour pre-failure window.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063240"/>
            <a:ext cx="10332720" cy="256032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- 359 of 390 anomalous test windows were missed despite training on normal-only windows.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The percentile threshold reduced false positives from 391 to 73 and improved F1 from 0.0858 to 0.1255 versus mean + 2.5 standard deviations, with slightly lower recall.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F3 and F4 had no alert in their 12-hour pre-failure windows; F1 and F2 were outside this test period.</a:t>
            </a:r>
          </a:p>
          <a:p>
            <a:pPr>
              <a:spcAft>
                <a:spcPts val="8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The proposed model did not achieve the highest F1; LSTM-AE scored 0.1328.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End-to-end dashboard and maintenance outputs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7/8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234440"/>
            <a:ext cx="5120640" cy="1463040"/>
          </a:xfrm>
          <a:prstGeom prst="roundRect">
            <a:avLst/>
          </a:prstGeom>
          <a:solidFill>
            <a:srgbClr val="18243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96112" y="137160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HISTORICAL MONITOR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6112" y="1755648"/>
            <a:ext cx="4791455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Sensor telemetry, model reconstruction scores, anomaly flags, and a health index derived from the calibrated threshold.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234440"/>
            <a:ext cx="5120640" cy="1463040"/>
          </a:xfrm>
          <a:prstGeom prst="roundRect">
            <a:avLst/>
          </a:prstGeom>
          <a:solidFill>
            <a:srgbClr val="182438"/>
          </a:solidFill>
          <a:ln>
            <a:solidFill>
              <a:srgbClr val="2DD4B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37160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MODEL INSPECTION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755648"/>
            <a:ext cx="4791455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Actual checkpoint attention weights over timesteps and an interactive what-if scored by the trained model.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71800"/>
            <a:ext cx="5120640" cy="1463040"/>
          </a:xfrm>
          <a:prstGeom prst="roundRect">
            <a:avLst/>
          </a:prstGeom>
          <a:solidFill>
            <a:srgbClr val="182438"/>
          </a:solidFill>
          <a:ln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310896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ACC15"/>
                </a:solidFill>
                <a:latin typeface="Aptos"/>
              </a:defRPr>
            </a:pPr>
            <a:r>
              <a:t>MAINTENANCE TICKET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2" y="3493008"/>
            <a:ext cx="4791455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Priority and recommended action derive from the current historical score; RUL is estimated only when a degradation trend exists.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2971800"/>
            <a:ext cx="5120640" cy="1463040"/>
          </a:xfrm>
          <a:prstGeom prst="roundRect">
            <a:avLst/>
          </a:prstGeom>
          <a:solidFill>
            <a:srgbClr val="182438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3108960"/>
            <a:ext cx="4791455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NOT A LIVE DEPLOYMENT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82512" y="3493008"/>
            <a:ext cx="4791455" cy="8046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400" b="0">
                <a:solidFill>
                  <a:srgbClr val="F1F5F9"/>
                </a:solidFill>
                <a:latin typeface="Aptos"/>
              </a:defRPr>
            </a:pPr>
            <a:r>
              <a:t>No IIoT ingestion, persistence of work orders, operator alerts, or safety interlocks are implemented.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74920"/>
            <a:ext cx="10241280" cy="8686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600" b="0">
                <a:solidFill>
                  <a:srgbClr val="F1F5F9"/>
                </a:solidFill>
                <a:latin typeface="Aptos"/>
              </a:defRPr>
            </a:pPr>
            <a:r>
              <a:t>SDG alignment is the project intent: support resilient infrastructure (SDG 9) and more condition-based resource use (SDG 12). No quantified savings or uptime benefits have been established.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53035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2500" b="1">
                <a:solidFill>
                  <a:srgbClr val="F1F5F9"/>
                </a:solidFill>
                <a:latin typeface="Aptos"/>
              </a:defRPr>
            </a:pPr>
            <a:r>
              <a:t>Conclusion, next steps, and 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94360" y="932688"/>
            <a:ext cx="731520" cy="41148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6519672"/>
            <a:ext cx="10972800" cy="1828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900" b="0">
                <a:solidFill>
                  <a:srgbClr val="A6B5CA"/>
                </a:solidFill>
                <a:latin typeface="Aptos"/>
              </a:defRPr>
            </a:pPr>
            <a:r>
              <a:t>APU-GUARDIAN  |  PROJECT REVIEW  |  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207008"/>
            <a:ext cx="192024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2DD4BF"/>
                </a:solidFill>
                <a:latin typeface="Aptos"/>
              </a:defRPr>
            </a:pPr>
            <a:r>
              <a:t>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5029200" cy="201168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Reproducible preprocessing, normal-only training, chronological calibration and test evaluation.</a:t>
            </a:r>
          </a:p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Four trained checkpoints, persisted inference scaler/settings, regenerated metrics and figures.</a:t>
            </a:r>
          </a:p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Model-backed offline dashboard, tests, and an updated presentation.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0" y="1207008"/>
            <a:ext cx="521208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F87171"/>
                </a:solidFill>
                <a:latin typeface="Aptos"/>
              </a:defRPr>
            </a:pPr>
            <a:r>
              <a:t>NEXT BEFORE ANY OPERATIONAL CLAIM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0" y="1600200"/>
            <a:ext cx="5120640" cy="2011680"/>
          </a:xfrm>
          <a:prstGeom prst="rect">
            <a:avLst/>
          </a:prstGeom>
          <a:noFill/>
        </p:spPr>
        <p:txBody>
          <a:bodyPr wrap="square" lIns="54864" rIns="36576">
            <a:spAutoFit/>
          </a:bodyPr>
          <a:lstStyle/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Improve detection and verify event-level early warning on additional labeled failures.</a:t>
            </a:r>
          </a:p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Validate threshold selection without test leakage and report confidence/false-alarm burden.</a:t>
            </a:r>
          </a:p>
          <a:p>
            <a:pPr>
              <a:spcAft>
                <a:spcPts val="1100"/>
              </a:spcAft>
              <a:defRPr sz="1400">
                <a:solidFill>
                  <a:srgbClr val="F1F5F9"/>
                </a:solidFill>
                <a:latin typeface="Aptos"/>
              </a:defRPr>
            </a:pPr>
            <a:r>
              <a:t>- Only then consider live data integration and operator review.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886200"/>
            <a:ext cx="1828800" cy="310896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>
              <a:defRPr sz="1500" b="1">
                <a:solidFill>
                  <a:srgbClr val="38BDF8"/>
                </a:solidFill>
                <a:latin typeface="Aptos"/>
              </a:defRPr>
            </a:pPr>
            <a:r>
              <a:t>REFERENCES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51960"/>
            <a:ext cx="10698480" cy="17373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r>
              <a:t>1. Davari, N., Veloso, B., Ribeiro, R.P., Pereira, P.M., &amp; Gama, J. (2021). Predictive maintenance based on anomaly detection using deep learning for air production unit in the railway industry. IEEE DSAA.</a:t>
            </a:r>
          </a:p>
          <a:p>
            <a:r>
              <a:t>2. Veloso, B., Gama, J., Ribeiro, R.P., &amp; Pereira, P.M. (2022). MetroPT: A benchmark dataset for predictive maintenance. Scientific Data.</a:t>
            </a:r>
          </a:p>
          <a:p>
            <a:r>
              <a:t>3. UCI Machine Learning Repository. MetroPT-3 dataset, ID 791.</a:t>
            </a:r>
          </a:p>
          <a:p>
            <a:r>
              <a:t>4. Akshitha Mary, A., &amp; Chandra Sekar, P. (2025). AI-Driven Predictive Maintenance for Metro Operations Using LSTM Autoencoder. IJACSA, 16(4).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